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開場（0:30，累計 0:30）</a:t>
            </a:r>
          </a:p>
          <a:p/>
          <a:p>
            <a:r>
              <a:t>大家好，今天我們要報告的是兩篇 2026 年推薦系統領域的論文。第一篇是發表在 WWW 2026 的「Modeling Stage-wise Evolution of User Interests for News Recommendation」，我們簡稱 Paper A；第二篇是 KDD 2026 的 LISRec，簡稱 Paper B。這兩篇論文其實都在回答同一個問題：使用者的點擊紀錄，到底能多準確地反映他真正的喜好？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為什麼選這兩篇（1:30，累計 2:00）</a:t>
            </a:r>
          </a:p>
          <a:p/>
          <a:p>
            <a:r>
              <a:t>先說明我們為什麼挑這兩篇。</a:t>
            </a:r>
          </a:p>
          <a:p/>
          <a:p>
            <a:r>
              <a:t>第一，它們用的是同一種原始資料，也就是大量的使用者互動紀錄。像 Paper A 用的 Adressa 資料集就有三千五百萬筆點擊，這正是巨量資料分析在推薦系統裡最典型的應用場景。</a:t>
            </a:r>
          </a:p>
          <a:p/>
          <a:p>
            <a:r>
              <a:t>第二，大部分推薦模型都有一個隱含的假設：使用者的歷史紀錄是乾淨而且靜態的。這兩篇論文剛好各自挑戰了其中一半。Paper A 認為歷史「不是靜態的」，使用者興趣會隨時間改變；Paper B 認為歷史「不是乾淨的」，裡面有很多隨手亂點的雜訊。</a:t>
            </a:r>
          </a:p>
          <a:p/>
          <a:p>
            <a:r>
              <a:t>第三，兩篇都是今年頂級會議的論文，都有公開程式碼，而且都用「圖」來重新整理使用者的歷史紀錄。</a:t>
            </a:r>
          </a:p>
          <a:p/>
          <a:p>
            <a:r>
              <a:t>所以下面這兩個框框就是今天的主軸：Paper A 從「時間」切入，把歷史切成不同階段；Paper B 從「語意」切入，只留下彼此一致的物品、把離群的點擊丟掉。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A：新聞興趣具有時效性（1:00，累計 3:00）</a:t>
            </a:r>
          </a:p>
          <a:p/>
          <a:p>
            <a:r>
              <a:t>先看 Paper A。新聞推薦跟電商最大的不同是時效性：新聞很快就過時，大家想看的是最新的事件。使用者的興趣也分兩種，一種是長期穩定的閱讀習慣，例如一直在看財經新聞；另一種是被事件帶動的短期興趣，像世界盃期間突然狂看體育新聞，疫情期間健康新聞暴增。</a:t>
            </a:r>
          </a:p>
          <a:p/>
          <a:p>
            <a:r>
              <a:t>現有方法大致在兩個極端。右邊第一種是靜態圖模型，把所有時間的點擊放在同一張圖裡，三個月前的興趣跟昨天的一樣重要，推薦就容易過時。第二種是純序列模型，只盯著最近的點擊，容易被短暫熱點牽著走，也失去了整張圖的協同訊號。</a:t>
            </a:r>
          </a:p>
          <a:p/>
          <a:p>
            <a:r>
              <a:t>作者的關鍵觀察是：同一段時間內的點擊通常是一致的，而跨時段的變化就代表興趣的演變。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A：模型架構（1:45，累計 4:45）</a:t>
            </a:r>
          </a:p>
          <a:p/>
          <a:p>
            <a:r>
              <a:t>這張是論文的 Figure 1，我們由左到右來看。</a:t>
            </a:r>
          </a:p>
          <a:p/>
          <a:p>
            <a:r>
              <a:t>最左邊是 Global Preference Modeling，簡稱 GPM。它在完整的使用者–新聞互動圖上跑 LightGCN，學到每個使用者和新聞的長期 embedding。這個全域 embedding 還有第二個用途：拿來初始化後面每個時段的子圖，因為單一時段的資料很稀疏，好的初始化很重要。</a:t>
            </a:r>
          </a:p>
          <a:p/>
          <a:p>
            <a:r>
              <a:t>中間是 Local Preference Modeling，簡稱 LPM。作者先把點擊依時間切成 T 個區間，例如每兩週一段，每一段建一張時序子圖 G1 到 GT。LPM 裡有兩個分支：</a:t>
            </a:r>
          </a:p>
          <a:p/>
          <a:p>
            <a:r>
              <a:t>上面是短期演化分支，在每張子圖上各跑一次 GCN，再用 LSTM 把相鄰時段串起來，捕捉興趣一步步的變化，對最近的行為比較敏感。</a:t>
            </a:r>
          </a:p>
          <a:p/>
          <a:p>
            <a:r>
              <a:t>下面是長距離聚合分支，用 self-attention 看到目前為止所有點擊，再加上位置編碼，讓模型知道哪些點擊比較早、哪些比較新，補足 LSTM 只看相鄰時段的不足。</a:t>
            </a:r>
          </a:p>
          <a:p/>
          <a:p>
            <a:r>
              <a:t>最右邊是融合：使用者表示等於短期、長距離、全域三個 embedding 相加，再跟新聞的 embedding 做內積，經過 sigmoid 得到點擊機率。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A：訓練目標（1:00，累計 5:45）</a:t>
            </a:r>
          </a:p>
          <a:p/>
          <a:p>
            <a:r>
              <a:t>訓練目標由三個部分組成。</a:t>
            </a:r>
          </a:p>
          <a:p/>
          <a:p>
            <a:r>
              <a:t>第一是預測損失，在每個時段內用 binary cross-entropy，每個正樣本搭配四個負樣本。</a:t>
            </a:r>
          </a:p>
          <a:p/>
          <a:p>
            <a:r>
              <a:t>第二是一致性正則化，用對比學習讓同一個使用者在某個時段的 embedding 靠近他自己的全域 embedding，並遠離其他使用者，避免時序表示偏離太多。</a:t>
            </a:r>
          </a:p>
          <a:p/>
          <a:p>
            <a:r>
              <a:t>第三是平滑正則化，讓相鄰時段的 embedding 不要差太多，因為興趣通常是漸進改變，不會突然跳很遠。</a:t>
            </a:r>
          </a:p>
          <a:p/>
          <a:p>
            <a:r>
              <a:t>實驗用的是兩個大型新聞資料集：Adressa 有三百六十萬使用者、三千五百萬筆點擊，橫跨三個月；MIND 有一百萬使用者、兩千四百萬筆點擊。評估指標是 AUC、MRR 和 nDCG，跟七個 baseline 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A：實驗結果（1:30，累計 7:15）</a:t>
            </a:r>
          </a:p>
          <a:p/>
          <a:p>
            <a:r>
              <a:t>看結果。上面是 Table 2，這個方法在兩個資料集的所有指標都是最好的。在 Adressa 上 AUC 達到 0.80，第二名的 CROWN 只有 0.66，差距很大；在 MIND 上是 0.58 對 0.55，進步幅度就比較小。</a:t>
            </a:r>
          </a:p>
          <a:p/>
          <a:p>
            <a:r>
              <a:t>左下是消融實驗。不管拿掉整個 LPM、只拿掉 LSTM 分支、只拿掉 attention 分支，或拿掉全域的 GPM，表現都明顯下降，表示這三個部分是互補的。</a:t>
            </a:r>
          </a:p>
          <a:p/>
          <a:p>
            <a:r>
              <a:t>右下是時間窗大小的實驗，比較一到四週。兩週表現最好：窗太短，每個子圖資料太稀疏；窗太長，又會把細微的興趣變化抹平。</a:t>
            </a:r>
          </a:p>
          <a:p/>
          <a:p>
            <a:r>
              <a:t>Paper A 就介紹到這裡，接下來換 Paper 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B：不是每次點擊都代表喜好（1:00，累計 8:15）</a:t>
            </a:r>
          </a:p>
          <a:p/>
          <a:p>
            <a:r>
              <a:t>Paper B，LISRec，處理的是雜訊問題。看左邊論文的 Figure 1：一個使用者一直買 LEGO，鋼鐵人、Stitch、Bugatti、星際大戰，但中間點了一次 Nintendo Switch 的瑪利歐賽車，可能只是一時好奇。</a:t>
            </a:r>
          </a:p>
          <a:p/>
          <a:p>
            <a:r>
              <a:t>不論是用物品 ID 的模型，像 SASRec、BERT4Rec，或是用文字的模型，像 TASTE、HLLM，通常都把每一筆紀錄一視同仁，雜訊就會被帶進使用者表示裡。過去的去雜訊方法多半是調整權重或用隱式的對比學習，沒有明確把雜訊拿掉，也比較難解釋。</a:t>
            </a:r>
          </a:p>
          <a:p/>
          <a:p>
            <a:r>
              <a:t>LISRec 的想法是找出一條語意上的「捷徑」，也就是歷史裡彼此一致的那一群物品，只用它們來代表使用者。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B：LISRec 流程（1:30，累計 9:45）</a:t>
            </a:r>
          </a:p>
          <a:p/>
          <a:p>
            <a:r>
              <a:t>這是 LISRec 的架構圖，可以拆成三個步驟。</a:t>
            </a:r>
          </a:p>
          <a:p/>
          <a:p>
            <a:r>
              <a:t>第一步，訓練一個與任務無關的物品編碼器。作者用 T5，只用物品的文字描述、不用 ID，用「根據瀏覽紀錄推薦下一個物品」的指令格式，在多個資料集上一起訓練。這樣學到的相似度會跟使用者喜好有關，也比較能跨領域使用。</a:t>
            </a:r>
          </a:p>
          <a:p/>
          <a:p>
            <a:r>
              <a:t>第二步，對每個使用者建一張個人化的物品圖。節點是他點過的所有物品，兩個物品的 cosine 相似度大於門檻 τ 就連一條邊，論文設定 τ 等於 0.7。</a:t>
            </a:r>
          </a:p>
          <a:p/>
          <a:p>
            <a:r>
              <a:t>第三步，取這張圖裡最大的連通分量，當作捷徑。只有這些物品會被拿去訓練和推論推薦模型，其他的就當作雜訊排除。</a:t>
            </a:r>
          </a:p>
          <a:p/>
          <a:p>
            <a:r>
              <a:t>這個設計的好處是它像一個前處理的過濾器，可以接在不同的推薦模型前面，文字模型 TASTE 和 ID 模型 BERT4Rec 都能用。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B：案例分析（1:00，累計 10:45）</a:t>
            </a:r>
          </a:p>
          <a:p/>
          <a:p>
            <a:r>
              <a:t>這是論文 Table 5 的實際例子，來自 Amazon Beauty。這個使用者點過四個商品，其中 n1、n2、n4 都是保濕乳液，彼此相似度大約 0.44 到 0.46；n3 是一瓶 Valentino 香水，跟其他商品的相似度只有 0.20 到 0.25。</a:t>
            </a:r>
          </a:p>
          <a:p/>
          <a:p>
            <a:r>
              <a:t>所以建圖之後，邊只出現在 1、2、4 之間，香水是孤立的，最後留下來的捷徑就是 {1, 2, 4}。Yelp 的例子也一樣，一個常去酒吧和餐廳的使用者去過一次動物醫院，那筆紀錄就被濾掉了。</a:t>
            </a:r>
          </a:p>
          <a:p/>
          <a:p>
            <a:r>
              <a:t>這種做法最大的優點是可解釋：我們可以清楚看到哪些點擊被移除、為什麼被移除。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B：實驗結果（1:30，累計 12:15）</a:t>
            </a:r>
          </a:p>
          <a:p/>
          <a:p>
            <a:r>
              <a:t>實驗用四個資料集：Amazon 的 Beauty、Sports、Toys，以及 Yelp。上面的 Table 1 裡，LISRec 以 TASTE 為基底，跟十一個 ID-based 和 text-based 的模型比較，幾乎在所有指標上都是最好的，最多進步約 13%。</a:t>
            </a:r>
          </a:p>
          <a:p/>
          <a:p>
            <a:r>
              <a:t>進步幅度在購物資料集最明顯，在 Yelp 上比較小。作者的解釋是購物情境裡，使用者更常因一時興趣而隨手點擊。</a:t>
            </a:r>
          </a:p>
          <a:p/>
          <a:p>
            <a:r>
              <a:t>另外，跟專門去雜訊的方法 DSAN、HSD、DCRec 比，在相同的 BERT4Rec 基底下，LISRec 平均好了約 4.7%。消融實驗也顯示，就算是沒訓練過的 zero-shot 過濾器都有幫助。</a:t>
            </a:r>
          </a:p>
          <a:p/>
          <a:p>
            <a:r>
              <a:t>左下是門檻 τ 的敏感度分析：τ 太低會讓雜訊混進來，中等的 τ 效果最好，而且每一個 τ 都比完全不過濾好。右下的 Figure 6 顯示，用捷徑訓練後，使用者表示跟目標物品更接近，被移除的物品在 embedding 空間裡也被推到外圍。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兩篇比較（1:00，累計 13:15）</a:t>
            </a:r>
          </a:p>
          <a:p/>
          <a:p>
            <a:r>
              <a:t>把兩篇放在一起比較。Paper A 挑戰的是「歷史是靜態的」，Paper B 挑戰的是「歷史是乾淨的」。A 主要用時間戳記加上協同圖，B 用的是物品文字語意。A 的圖是全域加上各時段的使用者–新聞圖，B 的圖則是每個使用者自己的物品相似度圖。資料方面，A 是新聞，B 是電商和地點評論。最後一個差別是，A 是一個完整的端到端模型，B 則是可以接在任何推薦模型前面的過濾器。</a:t>
            </a:r>
          </a:p>
          <a:p/>
          <a:p>
            <a:r>
              <a:t>簡單說，A 回答的是「某個興趣什麼時候重要」，B 回答的是「哪些紀錄真的代表這個使用者」。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總結與討論（1:30，累計 14:45）</a:t>
            </a:r>
          </a:p>
          <a:p/>
          <a:p>
            <a:r>
              <a:t>總結一下。Paper A 依照時間切開歷史，用全域圖抓穩定喜好，再用時段子圖加 LSTM 和 attention 抓興趣變化。Paper B 依照語意切開歷史，只保留語意一致的核心物品。兩篇的共同點是：不直接把原始紀錄丟進模型，而是先重新整理歷史。</a:t>
            </a:r>
          </a:p>
          <a:p/>
          <a:p>
            <a:r>
              <a:t>我們也有幾個想跟大家討論的問題。第一，Paper A 在 Adressa 上有好幾個 baseline 的 AUC 大約 0.5，接近隨機，比較基準是否公平值得思考。第二，MIND 沒有真正的時間戳記，只能平分成假的時段。第三，Paper B 只取最大連通分量，那如果使用者本來就有好幾個真正的興趣，會不會把次要但真實的興趣也濾掉？最後，這兩篇其實可以結合：先用 B 去掉雜訊，再用 A 建模興趣隨時間的變化。</a:t>
            </a:r>
          </a:p>
          <a:p/>
          <a:p>
            <a:r>
              <a:t>一句話總結：更好的推薦，來自更好地理解歷史紀錄，也就是知道興趣什麼時候重要，以及哪些點擊真的算數。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感謝與 Q&amp;A（0:15，累計 15:00）</a:t>
            </a:r>
          </a:p>
          <a:p/>
          <a:p>
            <a:r>
              <a:t>以上是我們的報告，兩篇論文的出處和程式碼連結都列在這裡。謝謝大家，歡迎提問。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A8B2C1"/>
                </a:solidFill>
                <a:latin typeface="Calibri"/>
              </a:rPr>
              <a:t>BIG DATA ANALYTICS · PAPER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What is a user history really telling 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803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D6DCE5"/>
                </a:solidFill>
                <a:latin typeface="Calibri"/>
              </a:rPr>
              <a:t>Two 2026 papers on modelling user preferences from interaction logs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3D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95344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Modeling Stage-wise Evolution of User Interests for News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42816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8B2C1"/>
                </a:solidFill>
                <a:latin typeface="Calibri"/>
              </a:rPr>
              <a:t>Cheng, Jin, Zhang, Chen, Duan, Wang · WWW '26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9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855464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LISRec: Modeling User Preferences with Learned Item Shortcuts for Sequential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202936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8B2C1"/>
                </a:solidFill>
                <a:latin typeface="Calibri"/>
              </a:rPr>
              <a:t>Xin, Liu, Mei, Yan, Yu, Wang, Chen, Gu, Yu, Xiong · KDD '26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93192"/>
            <a:ext cx="110944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63B"/>
                </a:solidFill>
                <a:latin typeface="Cambria"/>
              </a:rPr>
              <a:t>Why we picked these two papers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515258" cy="1920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63B"/>
                </a:solidFill>
                <a:latin typeface="Cambria"/>
              </a:rPr>
              <a:t>Same raw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305805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63B"/>
                </a:solidFill>
                <a:latin typeface="Calibri"/>
              </a:rPr>
              <a:t>Both learn user preferences only from large interaction logs (up to 35M clicks), the classic big-data setting of recommender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8218" y="1508760"/>
            <a:ext cx="3515258" cy="1920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6818" y="169164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63B"/>
                </a:solidFill>
                <a:latin typeface="Cambria"/>
              </a:rPr>
              <a:t>Two blind spots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6818" y="2148840"/>
            <a:ext cx="305805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63B"/>
                </a:solidFill>
                <a:latin typeface="Calibri"/>
              </a:rPr>
              <a:t>Raw histories are treated as a clean, static signal. Paper A says it is not static (interests drift); Paper B says it is not clean (noisy clicks).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796" y="1508760"/>
            <a:ext cx="3515258" cy="1920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6396" y="169164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63B"/>
                </a:solidFill>
                <a:latin typeface="Cambria"/>
              </a:rPr>
              <a:t>Fresh &amp; reproducible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396" y="2148840"/>
            <a:ext cx="305805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63B"/>
                </a:solidFill>
                <a:latin typeface="Calibri"/>
              </a:rPr>
              <a:t>Accepted at WWW '26 and KDD '26, top venues for web / data mining; both release code, and both use graphs to restructure the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63B"/>
                </a:solidFill>
                <a:latin typeface="Cambria"/>
              </a:rPr>
              <a:t>One question, two answers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5364327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617720"/>
            <a:ext cx="502920" cy="502920"/>
          </a:xfrm>
          <a:prstGeom prst="ellipse">
            <a:avLst/>
          </a:prstGeom>
          <a:solidFill>
            <a:srgbClr val="3D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26280"/>
            <a:ext cx="42670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63B"/>
                </a:solidFill>
                <a:latin typeface="Calibri"/>
              </a:rPr>
              <a:t>Time: interests evolve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92040"/>
            <a:ext cx="426704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63B"/>
                </a:solidFill>
                <a:latin typeface="Calibri"/>
              </a:rPr>
              <a:t>Split the history into time stages and model how preferences move from stage to stage.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4389120"/>
            <a:ext cx="5364327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07327" y="4617720"/>
            <a:ext cx="502920" cy="502920"/>
          </a:xfrm>
          <a:prstGeom prst="ellipse">
            <a:avLst/>
          </a:prstGeom>
          <a:solidFill>
            <a:srgbClr val="9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27" y="4526280"/>
            <a:ext cx="42670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63B"/>
                </a:solidFill>
                <a:latin typeface="Calibri"/>
              </a:rPr>
              <a:t>Semantics: some clicks are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3127" y="4892040"/>
            <a:ext cx="426704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63B"/>
                </a:solidFill>
                <a:latin typeface="Calibri"/>
              </a:rPr>
              <a:t>Keep only the items that are semantically consistent with each other; drop the outliers.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rgbClr val="3D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171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63B"/>
                </a:solidFill>
                <a:latin typeface="Cambria"/>
              </a:rPr>
              <a:t>News interests are time-sensitive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051560"/>
            <a:ext cx="103171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B677A"/>
                </a:solidFill>
                <a:latin typeface="Calibri"/>
              </a:rPr>
              <a:t>Modeling Stage-wise Evolution of User Interests for News Recommendation · WWW 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19456">
              <a:spcAft>
                <a:spcPts val="800"/>
              </a:spcAft>
              <a:buChar char="•"/>
            </a:pPr>
            <a:r>
              <a:rPr sz="1700" b="1" i="0">
                <a:solidFill>
                  <a:srgbClr val="1B263B"/>
                </a:solidFill>
                <a:latin typeface="Calibri"/>
              </a:rPr>
              <a:t>News loses value fast: </a:t>
            </a:r>
            <a:r>
              <a:rPr sz="1700" b="0" i="0">
                <a:solidFill>
                  <a:srgbClr val="1B263B"/>
                </a:solidFill>
                <a:latin typeface="Calibri"/>
              </a:rPr>
              <a:t>users want the latest events, trending topics, seasonal contexts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700" b="1" i="0">
                <a:solidFill>
                  <a:srgbClr val="1B263B"/>
                </a:solidFill>
                <a:latin typeface="Calibri"/>
              </a:rPr>
              <a:t>Two kinds of interest: </a:t>
            </a:r>
            <a:r>
              <a:rPr sz="1700" b="0" i="0">
                <a:solidFill>
                  <a:srgbClr val="1B263B"/>
                </a:solidFill>
                <a:latin typeface="Calibri"/>
              </a:rPr>
              <a:t>stable long-term reading habits + short-term, event-driven shifts</a:t>
            </a:r>
          </a:p>
          <a:p>
            <a:pPr marL="530352" indent="-219456">
              <a:spcAft>
                <a:spcPts val="800"/>
              </a:spcAft>
              <a:buChar char="–"/>
            </a:pPr>
            <a:r>
              <a:rPr sz="1500" b="0" i="0">
                <a:solidFill>
                  <a:srgbClr val="1B263B"/>
                </a:solidFill>
                <a:latin typeface="Calibri"/>
              </a:rPr>
              <a:t>e.g. World Cup → sports spike; pandemic → health news spike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700" b="1" i="0">
                <a:solidFill>
                  <a:srgbClr val="1B263B"/>
                </a:solidFill>
                <a:latin typeface="Calibri"/>
              </a:rPr>
              <a:t>Static global graph (GCN): </a:t>
            </a:r>
            <a:r>
              <a:rPr sz="1700" b="0" i="0">
                <a:solidFill>
                  <a:srgbClr val="1B263B"/>
                </a:solidFill>
                <a:latin typeface="Calibri"/>
              </a:rPr>
              <a:t>good collaborative signal, but outdated recommendations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700" b="1" i="0">
                <a:solidFill>
                  <a:srgbClr val="1B263B"/>
                </a:solidFill>
                <a:latin typeface="Calibri"/>
              </a:rPr>
              <a:t>Sequential models (LSTUR, ...): </a:t>
            </a:r>
            <a:r>
              <a:rPr sz="1700" b="0" i="0">
                <a:solidFill>
                  <a:srgbClr val="1B263B"/>
                </a:solidFill>
                <a:latin typeface="Calibri"/>
              </a:rPr>
              <a:t>track recency, but lose stable high-order signals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700" b="1" i="0">
                <a:solidFill>
                  <a:srgbClr val="1B263B"/>
                </a:solidFill>
                <a:latin typeface="Calibri"/>
              </a:rPr>
              <a:t>Goal: </a:t>
            </a:r>
            <a:r>
              <a:rPr sz="1700" b="0" i="0">
                <a:solidFill>
                  <a:srgbClr val="1B263B"/>
                </a:solidFill>
                <a:latin typeface="Calibri"/>
              </a:rPr>
              <a:t>keep long-term stability and stay sensitive to short-term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691640"/>
            <a:ext cx="4876495" cy="16916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874520"/>
            <a:ext cx="44192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D6B73"/>
                </a:solidFill>
                <a:latin typeface="Cambria"/>
              </a:rPr>
              <a:t>Static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331720"/>
            <a:ext cx="4419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63B"/>
                </a:solidFill>
                <a:latin typeface="Calibri"/>
              </a:rPr>
              <a:t>One graph over all time → a user's 3-month-old interest weighs as much as yesterday's. Profiles become dominated by outdated clicks.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611880"/>
            <a:ext cx="4876495" cy="16916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794760"/>
            <a:ext cx="44192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D6B73"/>
                </a:solidFill>
                <a:latin typeface="Cambria"/>
              </a:rPr>
              <a:t>Pure sequential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4251960"/>
            <a:ext cx="4419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63B"/>
                </a:solidFill>
                <a:latin typeface="Calibri"/>
              </a:rPr>
              <a:t>Focus on the latest clicks → over-react to temporary trends and miss the collaborative structure of the whole 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532120"/>
            <a:ext cx="48764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1B263B"/>
                </a:solidFill>
                <a:latin typeface="Calibri"/>
              </a:rPr>
              <a:t>Key insight: clicks inside one period are coherent; transitions across periods show the evolution.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rgbClr val="3D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171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63B"/>
                </a:solidFill>
                <a:latin typeface="Cambria"/>
              </a:rPr>
              <a:t>Framework: global graph + stage-wise subgraphs</a:t>
            </a:r>
          </a:p>
        </p:txBody>
      </p:sp>
      <p:pic>
        <p:nvPicPr>
          <p:cNvPr id="4" name="Picture 3" descr="a_fig1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5901"/>
            <a:ext cx="7589520" cy="3329118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5418171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77A"/>
                </a:solidFill>
                <a:latin typeface="Calibri"/>
              </a:rPr>
              <a:t>Figure 1 of Paper A: overall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600200"/>
            <a:ext cx="323057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GPM: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LightGCN on the full user–news graph → long-term embeddings e_g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Temporal subgraphs: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split clicks into T windows (e.g. 2 weeks), one subgraph G_t each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Short-term branch: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GCN on each G_t (initialised by e_g) + LSTM across stages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Long-range branch: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self-attention over all clicks up to stage t + position embedding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Fusion: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user = short-term + long-range + global; score = σ(u·i)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rgbClr val="3D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171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63B"/>
                </a:solidFill>
                <a:latin typeface="Cambria"/>
              </a:rPr>
              <a:t>Training: one prediction loss, two regularisers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15258" cy="1874519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D6B73"/>
                </a:solidFill>
                <a:latin typeface="Cambria"/>
              </a:rPr>
              <a:t>Prediction  (λt = 0.1)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058058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63B"/>
                </a:solidFill>
                <a:latin typeface="Calibri"/>
              </a:rPr>
              <a:t>Binary cross-entropy on clicks inside each time segment, with 4 sampled negatives per positive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600200"/>
            <a:ext cx="3515258" cy="1874519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78308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D6B73"/>
                </a:solidFill>
                <a:latin typeface="Cambria"/>
              </a:rPr>
              <a:t>Consistency  (λcl = 0.01)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240280"/>
            <a:ext cx="3058058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63B"/>
                </a:solidFill>
                <a:latin typeface="Calibri"/>
              </a:rPr>
              <a:t>Contrastive (InfoNCE, τ = 0.1): a user's stage embedding should stay close to their own global embedding and far from other users'.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600200"/>
            <a:ext cx="3515258" cy="1874519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178308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D6B73"/>
                </a:solidFill>
                <a:latin typeface="Cambria"/>
              </a:rPr>
              <a:t>Smoothness  (λsl = 0.01)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240280"/>
            <a:ext cx="3058058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63B"/>
                </a:solidFill>
                <a:latin typeface="Calibri"/>
              </a:rPr>
              <a:t>‖e_u^t − e_u^(t−1)‖² keeps adjacent stages close: interests drift gradually, not abruptly.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B263B"/>
                </a:solidFill>
                <a:latin typeface="Cambria"/>
              </a:rPr>
              <a:t>L  =  Σt λt·Lt  +  λcl·Lcl  +  λsl·Lsl  +  β‖Θ‖²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Datasets: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Adressa-large (3.6M users, 35M clicks, 3 months) and MIND-large (1M users, 24M clicks, 6 weeks)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Metrics: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AUC, MRR, nDCG@5/10 against 7 baselines (NRMS, NAML, NPA, LightGCN, CNE-SUE, TCCM, CROWN)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rgbClr val="3D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171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63B"/>
                </a:solidFill>
                <a:latin typeface="Cambria"/>
              </a:rPr>
              <a:t>Results: large gains, especially on Adressa</a:t>
            </a:r>
          </a:p>
        </p:txBody>
      </p:sp>
      <p:pic>
        <p:nvPicPr>
          <p:cNvPr id="4" name="Picture 3" descr="a_tab2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5858"/>
            <a:ext cx="7498078" cy="1920403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3799413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77A"/>
                </a:solidFill>
                <a:latin typeface="Calibri"/>
              </a:rPr>
              <a:t>Table 2 of Paper A: comparison with baselines</a:t>
            </a:r>
          </a:p>
        </p:txBody>
      </p:sp>
      <p:pic>
        <p:nvPicPr>
          <p:cNvPr id="6" name="Picture 5" descr="a_tab3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01718"/>
            <a:ext cx="3657600" cy="1449324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2419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77A"/>
                </a:solidFill>
                <a:latin typeface="Calibri"/>
              </a:rPr>
              <a:t>Table 3: ablation (Adressa)</a:t>
            </a:r>
          </a:p>
        </p:txBody>
      </p:sp>
      <p:pic>
        <p:nvPicPr>
          <p:cNvPr id="8" name="Picture 7" descr="a_fig2_win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4658792"/>
            <a:ext cx="3657600" cy="1335176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389120" y="6067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77A"/>
                </a:solidFill>
                <a:latin typeface="Calibri"/>
              </a:rPr>
              <a:t>Figure 2: window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417320"/>
            <a:ext cx="3230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B263B"/>
                </a:solidFill>
                <a:latin typeface="Cambria"/>
              </a:rPr>
              <a:t>0.80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94560"/>
            <a:ext cx="32305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AUC on Adressa vs 0.66 for best baseline (CROWN)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880360"/>
            <a:ext cx="3230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B263B"/>
                </a:solidFill>
                <a:latin typeface="Cambria"/>
              </a:rPr>
              <a:t>0.58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657600"/>
            <a:ext cx="32305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AUC on MIND vs 0.55 (smaller gain)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389120"/>
            <a:ext cx="323057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19456">
              <a:spcAft>
                <a:spcPts val="800"/>
              </a:spcAft>
              <a:buChar char="•"/>
            </a:pPr>
            <a:r>
              <a:rPr sz="1400" b="0" i="0">
                <a:solidFill>
                  <a:srgbClr val="1B263B"/>
                </a:solidFill>
                <a:latin typeface="Calibri"/>
              </a:rPr>
              <a:t>Removing any module hurts a lot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400" b="1" i="0">
                <a:solidFill>
                  <a:srgbClr val="1B263B"/>
                </a:solidFill>
                <a:latin typeface="Calibri"/>
              </a:rPr>
              <a:t>2-week window is best: </a:t>
            </a:r>
            <a:r>
              <a:rPr sz="1400" b="0" i="0">
                <a:solidFill>
                  <a:srgbClr val="1B263B"/>
                </a:solidFill>
                <a:latin typeface="Calibri"/>
              </a:rPr>
              <a:t>shorter = too sparse, longer = blurs shifts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rgbClr val="9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171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63B"/>
                </a:solidFill>
                <a:latin typeface="Cambria"/>
              </a:rPr>
              <a:t>Not every click reflects a real preference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051560"/>
            <a:ext cx="103171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B677A"/>
                </a:solidFill>
                <a:latin typeface="Calibri"/>
              </a:rPr>
              <a:t>LISRec: Modeling User Preferences with Learned Item Shortcuts · KDD '26</a:t>
            </a:r>
          </a:p>
        </p:txBody>
      </p:sp>
      <p:pic>
        <p:nvPicPr>
          <p:cNvPr id="5" name="Picture 4" descr="b_fig1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892" y="1417320"/>
            <a:ext cx="3722135" cy="4617720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1081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77A"/>
                </a:solidFill>
                <a:latin typeface="Calibri"/>
              </a:rPr>
              <a:t>Figure 1 of Paper B: a LEGO fan clicks a Nintendo 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600200"/>
            <a:ext cx="5608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19456">
              <a:spcAft>
                <a:spcPts val="800"/>
              </a:spcAft>
              <a:buChar char="•"/>
            </a:pPr>
            <a:r>
              <a:rPr sz="1600" b="1" i="0">
                <a:solidFill>
                  <a:srgbClr val="1B263B"/>
                </a:solidFill>
                <a:latin typeface="Calibri"/>
              </a:rPr>
              <a:t>Histories contain noise: </a:t>
            </a:r>
            <a:r>
              <a:rPr sz="1600" b="0" i="0">
                <a:solidFill>
                  <a:srgbClr val="1B263B"/>
                </a:solidFill>
                <a:latin typeface="Calibri"/>
              </a:rPr>
              <a:t>accidental clicks, momentary curiosity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600" b="0" i="0">
                <a:solidFill>
                  <a:srgbClr val="1B263B"/>
                </a:solidFill>
                <a:latin typeface="Calibri"/>
              </a:rPr>
              <a:t>ID-based (SASRec, BERT4Rec) and text-based (TASTE, HLLM) models use every item equally → noise propagates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600" b="0" i="0">
                <a:solidFill>
                  <a:srgbClr val="1B263B"/>
                </a:solidFill>
                <a:latin typeface="Calibri"/>
              </a:rPr>
              <a:t>Existing denoising re-weights items or uses implicit contrastive learning → no explicit removal, hard to interpret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600" b="1" i="0">
                <a:solidFill>
                  <a:srgbClr val="1B263B"/>
                </a:solidFill>
                <a:latin typeface="Calibri"/>
              </a:rPr>
              <a:t>Idea: </a:t>
            </a:r>
            <a:r>
              <a:rPr sz="1600" b="0" i="0">
                <a:solidFill>
                  <a:srgbClr val="1B263B"/>
                </a:solidFill>
                <a:latin typeface="Calibri"/>
              </a:rPr>
              <a:t>find the semantic "shortcut" - the subset of items that agree with each other - and model the user from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160520"/>
            <a:ext cx="5608015" cy="10972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4251960"/>
            <a:ext cx="515081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63B"/>
                </a:solidFill>
                <a:latin typeface="Calibri"/>
              </a:rPr>
              <a:t>History [LEGO Iron Man, LEGO Stitch, LEGO Bugatti, Switch Mario Kart, LEGO R2-D2] → shortcut keeps the LEGO items and drops the Switch.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rgbClr val="9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171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63B"/>
                </a:solidFill>
                <a:latin typeface="Cambria"/>
              </a:rPr>
              <a:t>LISRec pipeline: encode → build graph → keep the core</a:t>
            </a:r>
          </a:p>
        </p:txBody>
      </p:sp>
      <p:pic>
        <p:nvPicPr>
          <p:cNvPr id="4" name="Picture 3" descr="b_fig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1114"/>
            <a:ext cx="7315200" cy="3898692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570295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77A"/>
                </a:solidFill>
                <a:latin typeface="Calibri"/>
              </a:rPr>
              <a:t>Figure 2 of Paper B: model architecture</a:t>
            </a:r>
          </a:p>
        </p:txBody>
      </p:sp>
      <p:sp>
        <p:nvSpPr>
          <p:cNvPr id="6" name="Oval 5"/>
          <p:cNvSpPr/>
          <p:nvPr/>
        </p:nvSpPr>
        <p:spPr>
          <a:xfrm>
            <a:off x="8138160" y="1508760"/>
            <a:ext cx="457200" cy="457200"/>
          </a:xfrm>
          <a:prstGeom prst="ellipse">
            <a:avLst/>
          </a:prstGeom>
          <a:solidFill>
            <a:srgbClr val="9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50876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63B"/>
                </a:solidFill>
                <a:latin typeface="Calibri"/>
              </a:rPr>
              <a:t>Task-agnostic item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892808"/>
            <a:ext cx="28648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63B"/>
                </a:solidFill>
                <a:latin typeface="Calibri"/>
              </a:rPr>
              <a:t>T5 instruction-tuned on next-item prediction across datasets, using item text only (no IDs)</a:t>
            </a:r>
          </a:p>
        </p:txBody>
      </p:sp>
      <p:sp>
        <p:nvSpPr>
          <p:cNvPr id="9" name="Oval 8"/>
          <p:cNvSpPr/>
          <p:nvPr/>
        </p:nvSpPr>
        <p:spPr>
          <a:xfrm>
            <a:off x="8138160" y="3108960"/>
            <a:ext cx="457200" cy="457200"/>
          </a:xfrm>
          <a:prstGeom prst="ellipse">
            <a:avLst/>
          </a:prstGeom>
          <a:solidFill>
            <a:srgbClr val="9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10896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63B"/>
                </a:solidFill>
                <a:latin typeface="Calibri"/>
              </a:rPr>
              <a:t>Personal item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493008"/>
            <a:ext cx="28648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63B"/>
                </a:solidFill>
                <a:latin typeface="Calibri"/>
              </a:rPr>
              <a:t>Edge between two clicked items if cos(vi, vj) ≥ τ (τ = 0.7)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0" y="4709160"/>
            <a:ext cx="457200" cy="457200"/>
          </a:xfrm>
          <a:prstGeom prst="ellipse">
            <a:avLst/>
          </a:prstGeom>
          <a:solidFill>
            <a:srgbClr val="9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70916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63B"/>
                </a:solidFill>
                <a:latin typeface="Calibri"/>
              </a:rPr>
              <a:t>Shortcut = largest component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093208"/>
            <a:ext cx="28648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B263B"/>
                </a:solidFill>
                <a:latin typeface="Calibri"/>
              </a:rPr>
              <a:t>Its items become the denoised history fed to the recommender (TASTE / BERT4Rec)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rgbClr val="9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171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63B"/>
                </a:solidFill>
                <a:latin typeface="Cambria"/>
              </a:rPr>
              <a:t>Case study: the perfume that does not belong</a:t>
            </a:r>
          </a:p>
        </p:txBody>
      </p:sp>
      <p:pic>
        <p:nvPicPr>
          <p:cNvPr id="4" name="Picture 3" descr="b_tab5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0664"/>
            <a:ext cx="7680960" cy="3219512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504332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77A"/>
                </a:solidFill>
                <a:latin typeface="Calibri"/>
              </a:rPr>
              <a:t>Table 5 of Paper B: Amazon Beauty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19" y="1600200"/>
            <a:ext cx="3139136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19456">
              <a:spcAft>
                <a:spcPts val="800"/>
              </a:spcAft>
              <a:buChar char="•"/>
            </a:pPr>
            <a:r>
              <a:rPr sz="1500" b="0" i="0">
                <a:solidFill>
                  <a:srgbClr val="1B263B"/>
                </a:solidFill>
                <a:latin typeface="Calibri"/>
              </a:rPr>
              <a:t>n1, n2, n4 are moisturisers; pairwise similarity ≈ 0.44–0.46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n3 is a perfume: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similarity to the rest only 0.20–0.25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0" i="0">
                <a:solidFill>
                  <a:srgbClr val="1B263B"/>
                </a:solidFill>
                <a:latin typeface="Calibri"/>
              </a:rPr>
              <a:t>No edge reaches n3 → shortcut = {1, 2, 4}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Yelp case: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a vet clinic among bars &amp; restaurants is dropped the same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1B263B"/>
                </a:solidFill>
                <a:latin typeface="Calibri"/>
              </a:rPr>
              <a:t>Explicit, inspectable denoising: you can see exactly which clicks were removed and why.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rgbClr val="9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171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63B"/>
                </a:solidFill>
                <a:latin typeface="Cambria"/>
              </a:rPr>
              <a:t>Results: consistent gains on four datasets</a:t>
            </a:r>
          </a:p>
        </p:txBody>
      </p:sp>
      <p:pic>
        <p:nvPicPr>
          <p:cNvPr id="4" name="Picture 3" descr="b_tab1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8971"/>
            <a:ext cx="7680960" cy="2665617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421774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77A"/>
                </a:solidFill>
                <a:latin typeface="Calibri"/>
              </a:rPr>
              <a:t>Table 1 of Paper B: overall performance (Recall / NDCG @10, @20)</a:t>
            </a:r>
          </a:p>
        </p:txBody>
      </p:sp>
      <p:pic>
        <p:nvPicPr>
          <p:cNvPr id="6" name="Picture 5" descr="b_fig3_t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00" y="4617720"/>
            <a:ext cx="3368119" cy="1508760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19963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77A"/>
                </a:solidFill>
                <a:latin typeface="Calibri"/>
              </a:rPr>
              <a:t>Figure 3: threshold τ sensitivity</a:t>
            </a:r>
          </a:p>
        </p:txBody>
      </p:sp>
      <p:pic>
        <p:nvPicPr>
          <p:cNvPr id="8" name="Picture 7" descr="b_fig6_eff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063" y="4617720"/>
            <a:ext cx="2916033" cy="1508760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480560" y="619963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77A"/>
                </a:solidFill>
                <a:latin typeface="Calibri"/>
              </a:rPr>
              <a:t>Figure 6: closer user–target, outliers pushed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417320"/>
            <a:ext cx="30476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B263B"/>
                </a:solidFill>
                <a:latin typeface="Cambria"/>
              </a:rPr>
              <a:t>+13%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94560"/>
            <a:ext cx="3047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best improvement over baselines (Beauty)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880360"/>
            <a:ext cx="30476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B263B"/>
                </a:solidFill>
                <a:latin typeface="Cambria"/>
              </a:rPr>
              <a:t>+4.7%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657600"/>
            <a:ext cx="3047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A"/>
                </a:solidFill>
                <a:latin typeface="Calibri"/>
              </a:rPr>
              <a:t>over denoising methods (DSAN, HSD, DCRec)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389120"/>
            <a:ext cx="304769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19456">
              <a:spcAft>
                <a:spcPts val="800"/>
              </a:spcAft>
              <a:buChar char="•"/>
            </a:pPr>
            <a:r>
              <a:rPr sz="1400" b="0" i="0">
                <a:solidFill>
                  <a:srgbClr val="1B263B"/>
                </a:solidFill>
                <a:latin typeface="Calibri"/>
              </a:rPr>
              <a:t>Big gains on shopping data, small on Yelp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400" b="0" i="0">
                <a:solidFill>
                  <a:srgbClr val="1B263B"/>
                </a:solidFill>
                <a:latin typeface="Calibri"/>
              </a:rPr>
              <a:t>Even a zero-shot filter helps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93192"/>
            <a:ext cx="110944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63B"/>
                </a:solidFill>
                <a:latin typeface="Cambria"/>
              </a:rPr>
              <a:t>Side by side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08760"/>
          <a:ext cx="1109167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343400"/>
                <a:gridCol w="4096512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Paper A · Stage-wise news rec</a:t>
                      </a:r>
                    </a:p>
                  </a:txBody>
                  <a:tcPr anchor="ctr" marL="137160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Paper B · LISRec</a:t>
                      </a:r>
                    </a:p>
                  </a:txBody>
                  <a:tcPr anchor="ctr" marL="137160">
                    <a:solidFill>
                      <a:srgbClr val="1B26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</a:rPr>
                        <a:t>Assumption challenged</a:t>
                      </a:r>
                    </a:p>
                  </a:txBody>
                  <a:tcPr anchor="ctr" marL="13716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History is static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History is clean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</a:rPr>
                        <a:t>Main signal</a:t>
                      </a:r>
                    </a:p>
                  </a:txBody>
                  <a:tcPr anchor="ctr" marL="13716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Time stamps + collaborative graph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Item text semantics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</a:rPr>
                        <a:t>Role of the graph</a:t>
                      </a:r>
                    </a:p>
                  </a:txBody>
                  <a:tcPr anchor="ctr" marL="13716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Global + per-stage user–news graphs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Per-user item-similarity graph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</a:rPr>
                        <a:t>Core mechanism</a:t>
                      </a:r>
                    </a:p>
                  </a:txBody>
                  <a:tcPr anchor="ctr" marL="13716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GCN + LSTM + self-attention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Largest connected component as filter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</a:rPr>
                        <a:t>Domain / data</a:t>
                      </a:r>
                    </a:p>
                  </a:txBody>
                  <a:tcPr anchor="ctr" marL="13716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News: Adressa, MIND (24–35M clicks)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E-commerce &amp; POI: Amazon ×3, Yelp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 anchor="ctr" marL="13716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AUC, MRR, nDCG@5/10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Recall, NDCG @10/20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</a:rPr>
                        <a:t>Plug-in?</a:t>
                      </a:r>
                    </a:p>
                  </a:txBody>
                  <a:tcPr anchor="ctr" marL="137160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No, end-to-end model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</a:rPr>
                        <a:t>Yes, pre-filter for any recommender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93192"/>
            <a:ext cx="110944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63B"/>
                </a:solidFill>
                <a:latin typeface="Cambria"/>
              </a:rPr>
              <a:t>Summary &amp;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364327" cy="356616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63B"/>
                </a:solidFill>
                <a:latin typeface="Cambria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481568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A: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Split history by time - a global graph for stable taste, stage subgraphs + LSTM / attention for drift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B: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Split history by meaning - keep the semantically coherent core, drop outlier clicks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Both: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restructure the history before modelling instead of feeding raw logs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0" i="0">
                <a:solidFill>
                  <a:srgbClr val="1B263B"/>
                </a:solidFill>
                <a:latin typeface="Calibri"/>
              </a:rPr>
              <a:t>Both report clear gains; B is plug-and-play and interpretable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417320"/>
            <a:ext cx="5364327" cy="356616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047" y="1600200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63B"/>
                </a:solidFill>
                <a:latin typeface="Cambria"/>
              </a:rPr>
              <a:t>Open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148840"/>
            <a:ext cx="481568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A: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Several baselines score AUC ≈ 0.50 on Adressa (near random) - is the setup fair to them?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A: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Fixed windows; MIND has no real time stamps, so its stages are pseudo-periods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1" i="0">
                <a:solidFill>
                  <a:srgbClr val="1B263B"/>
                </a:solidFill>
                <a:latin typeface="Calibri"/>
              </a:rPr>
              <a:t>B: </a:t>
            </a:r>
            <a:r>
              <a:rPr sz="1500" b="0" i="0">
                <a:solidFill>
                  <a:srgbClr val="1B263B"/>
                </a:solidFill>
                <a:latin typeface="Calibri"/>
              </a:rPr>
              <a:t>Largest component keeps one dominant interest - what about users with several genuine interests?</a:t>
            </a:r>
          </a:p>
          <a:p>
            <a:pPr marL="256032" indent="-219456">
              <a:spcAft>
                <a:spcPts val="800"/>
              </a:spcAft>
              <a:buChar char="•"/>
            </a:pPr>
            <a:r>
              <a:rPr sz="1500" b="0" i="0">
                <a:solidFill>
                  <a:srgbClr val="1B263B"/>
                </a:solidFill>
                <a:latin typeface="Calibri"/>
              </a:rPr>
              <a:t>Combine them? Denoise with B, then model stage-wise drift with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5780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Better recommendations start with a better view of the history: when an interest matters (A) and which clicks really count (B).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Thank you  ·  Q &amp; A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3D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39312"/>
            <a:ext cx="104086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6DCE5"/>
                </a:solidFill>
                <a:latin typeface="Calibri"/>
              </a:rPr>
              <a:t>Cheng et al. Modeling Stage-wise Evolution of User Interests for News Recommendation. WWW '26. arXiv:2603.10471 · github.com/yikeJin/SEIN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9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53712"/>
            <a:ext cx="104086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6DCE5"/>
                </a:solidFill>
                <a:latin typeface="Calibri"/>
              </a:rPr>
              <a:t>Xin et al. LISRec: Modeling User Preferences with Learned Item Shortcuts for Sequential Recommendation. KDD '26. doi:10.1145/3770854.3780337 · github.com/NEUIR/LISRec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